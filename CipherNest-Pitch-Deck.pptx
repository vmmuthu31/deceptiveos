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280160"/>
            <a:ext cx="3840480" cy="3840480"/>
          </a:xfrm>
          <a:prstGeom prst="ellipse">
            <a:avLst/>
          </a:prstGeom>
          <a:solidFill>
            <a:srgbClr val="00D4AA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4F8EF7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9B72C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2194560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CipherNest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 Defense Engine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AI-native cyber deception platform — built to fight autonomous AI attackers.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build AI that fights AI."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22860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August 2026  ·  Confidential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ciphernest.io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Got Faster. Defenses Didn't.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33472" cy="173736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2633472" cy="50292"/>
          </a:xfrm>
          <a:prstGeom prst="rect">
            <a:avLst/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350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AI-driven attack lifecycle — breach to exfiltration (Unit 42, 2026)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18688" y="1234440"/>
            <a:ext cx="2633472" cy="173736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234440"/>
            <a:ext cx="2633472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3350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74136" y="20574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security market in 2026, growing at 14.1% CAGR through 2031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25896" y="1234440"/>
            <a:ext cx="2633472" cy="173736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234440"/>
            <a:ext cx="2633472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33502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81344" y="205740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companies worldwide with no viable deception platform today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8321040" cy="1691640"/>
          </a:xfrm>
          <a:prstGeom prst="rect">
            <a:avLst/>
          </a:prstGeom>
          <a:solidFill>
            <a:srgbClr val="0A18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2186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Existing Tool Is the Wrong Tool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Static honeypots are identified in seconds by automated AI scanners — response timing is uniform, outputs are templated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394106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Enterprise solutions (Illusive, Attivo, Smokescreen) all acquired — no independent player serves mid-market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Thinkst Canary costs $10,000/year minimum with no LLM, no fingerprinting, no air-gap — 98% of companies priced 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4471416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Open-source tools (T-Pot, OpenCanary) have zero intelligence layer — they log events and do nothing with them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CipherNest Is a Different Category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724912" cy="3584448"/>
          </a:xfrm>
          <a:prstGeom prst="rect">
            <a:avLst/>
          </a:prstGeom>
          <a:solidFill>
            <a:srgbClr val="0A0F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272491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16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Honeypots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(T-Pot / OpenCanary)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4632" y="18105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AI-aware responses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215798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Digital twin decoy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50545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Attacker fingerprinting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8529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Temporal deception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" y="32004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Semantic lure docs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35478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Watermark tracking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" y="389534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Compliance export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4370832"/>
            <a:ext cx="2724912" cy="292608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439826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Open Source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2724912" cy="3584448"/>
          </a:xfrm>
          <a:prstGeom prst="rect">
            <a:avLst/>
          </a:prstGeom>
          <a:solidFill>
            <a:srgbClr val="080E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43000"/>
            <a:ext cx="2724912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216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(Thinkst / Illusive)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37560" y="18105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AI-aware responses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215798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Digital twin decoy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250545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Attacker fingerprinting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28529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Temporal deception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32004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Semantic lure docs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35478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Watermark tracking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37560" y="389534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Basic compliance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4370832"/>
            <a:ext cx="2724912" cy="292608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439826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$10,000–$100K/yr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53328" y="1143000"/>
            <a:ext cx="2724912" cy="3584448"/>
          </a:xfrm>
          <a:prstGeom prst="rect">
            <a:avLst/>
          </a:prstGeom>
          <a:solidFill>
            <a:srgbClr val="051A1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1143000"/>
            <a:ext cx="2724912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1216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CipherNest ✦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190488" y="18105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Counter-LLM AI attacker trap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90488" y="215798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Living digital twin sync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90488" y="2505456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Cross-session DNA profiling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90488" y="28529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Engagement maximization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90488" y="32004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LLM-generated fake docs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90488" y="35478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Steganographic beacons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190488" y="389534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SOC2 / ISO 27001 / GDPR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53328" y="4370832"/>
            <a:ext cx="2724912" cy="292608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90488" y="439826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$99/mo Pro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Innovation Pillars — Zero Commercial Competitors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724912" cy="1755648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2724912" cy="50292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161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Attacker Trap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2763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Counter-LLM generates realistic timing jitter, authentic command output, and synthetic session memory to fool autonomous AI agents that identify static honeypots in milliseconds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24912" cy="1755648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724912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161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🪞  Living Digital Twin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2763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Auto-mirrors your real infrastructure — same hostnames, directory patterns, software versions — and stays current as your environment changes. No manual config. 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143000"/>
            <a:ext cx="2724912" cy="1755648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1143000"/>
            <a:ext cx="2724912" cy="50292"/>
          </a:xfrm>
          <a:prstGeom prst="rect">
            <a:avLst/>
          </a:prstGeom>
          <a:solidFill>
            <a:srgbClr val="9B72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12161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Attacker DNA Fingerprinting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162763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 from timing patterns, tool signatures, typo patterns, timezone inference. Cross-matches across sessions and MITRE ATT&amp;CK group signatures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55648" y="3017520"/>
            <a:ext cx="2724912" cy="1755648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755648" y="3017520"/>
            <a:ext cx="2724912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92808" y="309067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Temporal Deception Engine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92808" y="350215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maximizes time attackers spend in decoys. Every minute in your fake environment is a minute away from real systems — engineered engagement, not passive logging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08576" y="3017520"/>
            <a:ext cx="2724912" cy="1755648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08576" y="3017520"/>
            <a:ext cx="2724912" cy="50292"/>
          </a:xfrm>
          <a:prstGeom prst="rect">
            <a:avLst/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309067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Semantic Lure + Beacon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45736" y="3502152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company-specific fake docs with steganographic watermarks that ping home when opened on the attacker's machine — weeks later, even behind VPN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Attack Detection to Threat Intelligence — Automatically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572768" cy="3154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335024"/>
            <a:ext cx="768096" cy="768096"/>
          </a:xfrm>
          <a:prstGeom prst="ellipse">
            <a:avLst/>
          </a:prstGeom>
          <a:solidFill>
            <a:srgbClr val="4F8EF7">
              <a:alpha val="20000"/>
            </a:srgbClr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3502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947672" y="1691640"/>
            <a:ext cx="128016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Connects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HTTP / FTP / SMB honeypot receives connection from an autonomous AI agent or human attacker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75688" y="1188720"/>
            <a:ext cx="1572768" cy="3154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78024" y="1335024"/>
            <a:ext cx="768096" cy="768096"/>
          </a:xfrm>
          <a:prstGeom prst="ellipse">
            <a:avLst/>
          </a:prstGeom>
          <a:solidFill>
            <a:srgbClr val="00D4AA">
              <a:alpha val="20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33502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57600" y="1691640"/>
            <a:ext cx="128016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67128" y="2706624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generates session-aware responses with 50–800ms timing jitter — indistinguishable from a real server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85616" y="1188720"/>
            <a:ext cx="1572768" cy="3154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87952" y="1335024"/>
            <a:ext cx="768096" cy="768096"/>
          </a:xfrm>
          <a:prstGeom prst="ellipse">
            <a:avLst/>
          </a:prstGeom>
          <a:solidFill>
            <a:srgbClr val="9B72CF">
              <a:alpha val="20000"/>
            </a:srgbClr>
          </a:solidFill>
          <a:ln w="25400">
            <a:solidFill>
              <a:srgbClr val="9B72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133502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67528" y="1691640"/>
            <a:ext cx="128016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Profiled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77056" y="2706624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fingerprinted: timing DNA, tool signature, linguistic patterns, timezone inference, error behavior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95544" y="1188720"/>
            <a:ext cx="1572768" cy="3154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97880" y="1335024"/>
            <a:ext cx="768096" cy="768096"/>
          </a:xfrm>
          <a:prstGeom prst="ellipse">
            <a:avLst/>
          </a:prstGeom>
          <a:solidFill>
            <a:srgbClr val="FBBF24">
              <a:alpha val="20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33502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077456" y="1691640"/>
            <a:ext cx="128016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Classified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86984" y="2706624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classifies: Script Kiddie / Human Operator / AI Agent — triggers the correct response playbook automatically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05472" y="1188720"/>
            <a:ext cx="1572768" cy="3154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07808" y="1335024"/>
            <a:ext cx="768096" cy="768096"/>
          </a:xfrm>
          <a:prstGeom prst="ellipse">
            <a:avLst/>
          </a:prstGeom>
          <a:solidFill>
            <a:srgbClr val="F87171">
              <a:alpha val="20000"/>
            </a:srgbClr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7808" y="133502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296912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Exported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96912" y="2706624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 2.1 bundle, Sigma rules, compliance evidence auto-generated and pushed to your SIEM in real time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solidFill>
            <a:srgbClr val="0A18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507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Lure documents with steganographic watermarks beacon back to CipherNest when opened by the attacker — even weeks later, from behind VPN, from dark web leak sites.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Quadrant Nobody Else Can Reach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1298448"/>
            <a:ext cx="2514600" cy="1668780"/>
          </a:xfrm>
          <a:prstGeom prst="rect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967228"/>
            <a:ext cx="5029200" cy="16459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1298448"/>
            <a:ext cx="16459" cy="3337560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005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INTELLIGENCE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4672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INTELLIGENCE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300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AIR-GAP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48272" y="28300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SaaS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04288" y="1819656"/>
            <a:ext cx="237744" cy="237744"/>
          </a:xfrm>
          <a:prstGeom prst="ellipse">
            <a:avLst/>
          </a:prstGeom>
          <a:solidFill>
            <a:srgbClr val="00D4AA">
              <a:alpha val="75000"/>
            </a:srgbClr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CipherNest 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86984" y="2313432"/>
            <a:ext cx="164592" cy="164592"/>
          </a:xfrm>
          <a:prstGeom prst="ellipse">
            <a:avLst/>
          </a:prstGeom>
          <a:solidFill>
            <a:srgbClr val="4F8EF7">
              <a:alpha val="75000"/>
            </a:srgbClr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Thinkst Canary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74436" y="1860804"/>
            <a:ext cx="155448" cy="155448"/>
          </a:xfrm>
          <a:prstGeom prst="ellipse">
            <a:avLst/>
          </a:prstGeom>
          <a:solidFill>
            <a:srgbClr val="4F8EF7">
              <a:alpha val="75000"/>
            </a:srgbClr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7608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Illusive / Attivo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22392" y="2697480"/>
            <a:ext cx="128016" cy="128016"/>
          </a:xfrm>
          <a:prstGeom prst="ellipse">
            <a:avLst/>
          </a:prstGeom>
          <a:solidFill>
            <a:srgbClr val="5B7BDB">
              <a:alpha val="75000"/>
            </a:srgbClr>
          </a:solidFill>
          <a:ln w="19050">
            <a:solidFill>
              <a:srgbClr val="5B7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Smokescreen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21992" y="3794760"/>
            <a:ext cx="128016" cy="128016"/>
          </a:xfrm>
          <a:prstGeom prst="ellipse">
            <a:avLst/>
          </a:prstGeom>
          <a:solidFill>
            <a:srgbClr val="6B7280">
              <a:alpha val="75000"/>
            </a:srgbClr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T-Pot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43684" y="4165092"/>
            <a:ext cx="118872" cy="118872"/>
          </a:xfrm>
          <a:prstGeom prst="ellipse">
            <a:avLst/>
          </a:prstGeom>
          <a:solidFill>
            <a:srgbClr val="6B7280">
              <a:alpha val="75000"/>
            </a:srgbClr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58568" y="4096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OpenCanary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143000"/>
            <a:ext cx="1920240" cy="107899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143000"/>
            <a:ext cx="19202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121615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Quadrant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59168" y="157276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exists in High Intelligence + Local — zero competitors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2350008"/>
            <a:ext cx="1920240" cy="107899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2350008"/>
            <a:ext cx="192024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242316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Only Option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59168" y="2779776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Defense/gov orgs legally cannot use cloud deception tools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3557016"/>
            <a:ext cx="1920240" cy="107899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3557016"/>
            <a:ext cx="192024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9168" y="363016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Signal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59168" y="3986784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 players acquired in 3 years — market gap confirmed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Security Teams Buy CipherNest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206240" cy="17830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420624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12064" y="181965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time wasted per session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1307592"/>
            <a:ext cx="27432" cy="1417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5104" y="12344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Detect Before Damage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75104" y="1636776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deception keeps attackers in fake environments. Every minute inside the decoy is a minute away from real systems. Most tools alert AFTER the breach — CipherNest intercepts before it starts.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7830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206240" cy="50292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919472" y="181965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accuracy vs MITRE ATT&amp;CK groups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6208" y="1307592"/>
            <a:ext cx="27432" cy="1417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2344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Know Your Attacker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1636776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fingerprinting cross-matches attacker identity across sessions and known threat groups. Know if you're facing a nation-state or script kiddie — before responding.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044952"/>
            <a:ext cx="4206240" cy="17830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044952"/>
            <a:ext cx="420624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1363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12064" y="37216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ISO 27001 / GDPR evidence export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0" y="3209544"/>
            <a:ext cx="27432" cy="1417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75104" y="31363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Audit-Ready by Design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75104" y="3538728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logged in compliance-ready format. Generate a full evidence PDF in seconds — cutting weeks off audit prep. No bolt-on compliance tools. No spreadsheets.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44952"/>
            <a:ext cx="4206240" cy="17830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44952"/>
            <a:ext cx="4206240" cy="50292"/>
          </a:xfrm>
          <a:prstGeom prst="rect">
            <a:avLst/>
          </a:prstGeom>
          <a:solidFill>
            <a:srgbClr val="9B72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13639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919472" y="37216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zero data leaves your network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6208" y="3209544"/>
            <a:ext cx="27432" cy="1417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313639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True Zero-Trust Data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82512" y="3538728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inference runs on local Ollama. No cloud APIs. No telemetry unless opt-in. Air-gap mode means CipherNest works where no SaaS tool legally can: classified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 Has Never Been Better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057400" cy="141732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05740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84632" y="1801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security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1115568"/>
            <a:ext cx="2057400" cy="141732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15568"/>
            <a:ext cx="2057400" cy="50292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2070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97480" y="1801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2031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3168" y="1115568"/>
            <a:ext cx="2057400" cy="141732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73168" y="1115568"/>
            <a:ext cx="2057400" cy="50292"/>
          </a:xfrm>
          <a:prstGeom prst="rect">
            <a:avLst/>
          </a:prstGeom>
          <a:solidFill>
            <a:srgbClr val="9B72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2070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910328" y="1801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segment CAGR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buyer group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86016" y="1115568"/>
            <a:ext cx="2057400" cy="141732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86016" y="1115568"/>
            <a:ext cx="2057400" cy="50292"/>
          </a:xfrm>
          <a:prstGeom prst="rect">
            <a:avLst/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12070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$4.7M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123176" y="18013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AI-agent breach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 2026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" y="2697480"/>
            <a:ext cx="4178808" cy="219456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" y="27889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Catalysts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" y="321868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AI-agent attacks grew 300% in 2025–2026 (Unit 42)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" y="36118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4 major deception SaaS vendors acquired in 3 years — no independent mid-market player remains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" y="400507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 2 Type II now required for most B2B software sales — deception event data maps directly to evidence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" y="439826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FedRAMP mandates make cloud deception tools legally unusable in defense — local-only has zero competition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81728" y="2697480"/>
            <a:ext cx="4114800" cy="219456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Validation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64608" y="3218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LLM honeypot research (Beelzebub, HoneyGPT, VelLMes) exists only in academic papers — CipherNest is the only product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64608" y="3611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Digital twin honeypots: MDPI 2025 review confirms "scarcity of mature commercial contributions"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64608" y="4005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No product today addresses AI-vs-AI deception warfare — the primary 2026 threat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64608" y="43982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Resecurity Nov 2025 lure operation proves beacon tracking works — CipherNest automates it completely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Demo to Market Leadership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1033272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80160"/>
            <a:ext cx="2011680" cy="354787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80160"/>
            <a:ext cx="2011680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53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6 weeks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8836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" y="23317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Wire DB pool to Axum server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Electron IPC bridge (start Rust from app)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" y="322783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Cowrie log watcher → PostgreSQL events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Basic alert rules (auth failures)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412394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End-to-end app launch on laptop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74136" y="1033272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96312" y="1280160"/>
            <a:ext cx="2011680" cy="354787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96312" y="1280160"/>
            <a:ext cx="2011680" cy="50292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1353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4328" y="1600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 — 3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18836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Engines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24328" y="23317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 SSH honeypot (Ollama responses)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24328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Attacker type classifier (AI/Human/Script)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24328" y="322783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Semantic lure generator + watermarks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24328" y="367588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Beacon tracking endpoint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24328" y="412394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1,000 GitHub stars target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22976" y="1033272"/>
            <a:ext cx="256032" cy="256032"/>
          </a:xfrm>
          <a:prstGeom prst="ellipse">
            <a:avLst/>
          </a:prstGeom>
          <a:solidFill>
            <a:srgbClr val="9B72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1280160"/>
            <a:ext cx="2011680" cy="354787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1280160"/>
            <a:ext cx="2011680" cy="50292"/>
          </a:xfrm>
          <a:prstGeom prst="rect">
            <a:avLst/>
          </a:prstGeom>
          <a:solidFill>
            <a:srgbClr val="9B72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353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1600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6 months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18836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73168" y="23317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Attacker DNA fingerprinting (cross-session)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73168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MITRE ATT&amp;CK group matching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73168" y="322783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Living digital twin sync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73168" y="367588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Temporal deception engine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73168" y="412394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 tier launch ($99/month)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671816" y="1033272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93992" y="1280160"/>
            <a:ext cx="2011680" cy="354787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93992" y="1280160"/>
            <a:ext cx="201168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1353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22008" y="160020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12 months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22008" y="18836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22008" y="23317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Federated threat feed (opt-in anonymized)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922008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FedRAMP readiness deployment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922008" y="322783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One-click compliance evidence PDF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22008" y="367588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STIX 2.1 + TAXII 2.1 server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922008" y="412394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 enterprise deals → $1M ARR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Flywheel → Enterprise Revenue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724912" cy="373075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2724912" cy="50292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Wedge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84632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HackerNews  ·  Reddit /r/netsec  ·  DEF CON / Black 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20574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Ship semantic lure generator as standalone open-source demo — one viral demo drives initial stars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56946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"Open a fake PDF, watch it beacon home" — shareable short video that security researchers share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308152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Publish benchmark comparing CipherNest vs Thinkst on LLM honeypot response quality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935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5,000 GitHub stars in 3 months → data flywheel begins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4544568"/>
            <a:ext cx="2514600" cy="274320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" y="4562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5K stars → 1K installs → data flywheel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724912" cy="373075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43000"/>
            <a:ext cx="2724912" cy="50292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070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67328" y="12070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Conversion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33756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  ·  Inbound  ·  Security Conferences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0574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Free users hit compliance evidence feature → Pro upgrade ($99/mo) unlocks full export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256946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Lure generator: 5 docs free, unlimited on Pro — natural upgrade trigger that users feel immediately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08152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SOC-as-a-service vendors white-label CipherNest Pro for their SMB client base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5935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Conference live demo: attacker session replay with AI classification on projector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4544568"/>
            <a:ext cx="2514600" cy="274320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4562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100 Pro teams → $120K ARR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1143000"/>
            <a:ext cx="2724912" cy="373075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53328" y="1143000"/>
            <a:ext cx="2724912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12070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20256" y="12070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Land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190488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 ·  Defense Channel Partners  ·  Compliance Consultants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0488" y="20574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Air-gap: cold outreach to defense contractors post-FedRAMP authorization completion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0488" y="256946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Compliance consultants as channel: recommend CipherNest to SOC 2 audit clients as evidence tool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90488" y="308152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GSA Schedule listing for federal agency procurement — no-bid vehicle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90488" y="35935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20 enterprise deals at $10K–$50K = $600K–$1M ARR by month 12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44768" y="4544568"/>
            <a:ext cx="2514600" cy="274320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36208" y="4562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20 enterprise deals → $1M ARR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One Clear Path to $1M ARR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724912" cy="373075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272491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97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12064" y="2121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· AGPL-3.0 Open 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" y="2423160"/>
            <a:ext cx="24231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468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Security researchers, students, SMBs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2788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honeypot deployment (Cowrie, Dionaea, CustomLLM)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31089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Ollama SSH honeypot responses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3429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event logging and alerting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STIX 2.1 / Sigma export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4069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lure documents per month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4535424"/>
            <a:ext cx="2523744" cy="256032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553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installs → data flywheel → moat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115568"/>
            <a:ext cx="2724912" cy="3730752"/>
          </a:xfrm>
          <a:prstGeom prst="rect">
            <a:avLst/>
          </a:prstGeom>
          <a:solidFill>
            <a:srgbClr val="051A1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15568"/>
            <a:ext cx="2724912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197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64992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364992" y="2121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or  $999/year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423160"/>
            <a:ext cx="24231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468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Mid-market security teams (500–5K employees)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2788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Community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31089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semantic lure 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429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Watermark beacon tracking (active)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Attacker DNA fingerprinting (full)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4069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MITRE ATT&amp;CK attribution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64992" y="4389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1-click compliance evidence export (SOC 2 / ISO 27001 / GDPR)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4535424"/>
            <a:ext cx="2523744" cy="256032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83280" y="4553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teams → $120K ARR by month 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53328" y="1115568"/>
            <a:ext cx="2724912" cy="3730752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1115568"/>
            <a:ext cx="2724912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97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Enterprise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17920" y="15361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6217920" y="2121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– $50K / year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423160"/>
            <a:ext cx="24231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468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Defense, government, critical infrastructure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2788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1089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FedRAMP-ready deployment package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3429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telemetry guarantee (contractual)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3749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On-site deployment + custom integrations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069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with dedicated support team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44768" y="4535424"/>
            <a:ext cx="2523744" cy="256032"/>
          </a:xfrm>
          <a:prstGeom prst="rect">
            <a:avLst/>
          </a:prstGeom>
          <a:solidFill>
            <a:srgbClr val="10182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36208" y="4553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deals → $600K–$1M ARR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$1M ARR: 100 Pro ($120K) + 20 Enterprise avg $44K ($880K) = $1M ARR by month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3657600" cy="3657600"/>
          </a:xfrm>
          <a:prstGeom prst="ellipse">
            <a:avLst/>
          </a:prstGeom>
          <a:solidFill>
            <a:srgbClr val="4F8EF7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85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371600" y="17190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era of attacks demands AI-native defense."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331720"/>
            <a:ext cx="219456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514600"/>
            <a:ext cx="2212848" cy="868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5877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862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ciphernest.io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38728" y="2514600"/>
            <a:ext cx="2212848" cy="868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75888" y="25877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75888" y="2862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github.com/ciphernest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2514600"/>
            <a:ext cx="2212848" cy="868680"/>
          </a:xfrm>
          <a:prstGeom prst="rect">
            <a:avLst/>
          </a:prstGeom>
          <a:solidFill>
            <a:srgbClr val="0C153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25877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63056" y="2862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founders@ciphernest.io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3566160"/>
            <a:ext cx="6766560" cy="1024128"/>
          </a:xfrm>
          <a:prstGeom prst="rect">
            <a:avLst/>
          </a:prstGeom>
          <a:solidFill>
            <a:srgbClr val="0A182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630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$500K seed to fund 6 months of engineering (Phase 1 + 2), FedRAMP pre-assessment, and first enterprise customer acquisition.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60% engineering  ·  20% go-to-market  ·  20% compliance certification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2026-08-13T14:52:19Z</dcterms:created>
  <dcterms:modified xsi:type="dcterms:W3CDTF">2026-08-13T14:52:19Z</dcterms:modified>
</cp:coreProperties>
</file>